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08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8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96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40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84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28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2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6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60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04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48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92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36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80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240000" y="0"/>
            <a:ext cx="10800" cy="428040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144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88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32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76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20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64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1008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1152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1296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1440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1584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1728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872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016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2160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304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448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592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2736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2880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3024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3168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3312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3456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3600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3744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3888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4032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41760000"/>
            <a:ext cx="30276000" cy="10800"/>
          </a:xfrm>
          <a:prstGeom prst="rect">
            <a:avLst/>
          </a:prstGeom>
          <a:solidFill>
            <a:srgbClr val="14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30276000" cy="2232000"/>
          </a:xfrm>
          <a:prstGeom prst="rect">
            <a:avLst/>
          </a:prstGeom>
          <a:solidFill>
            <a:srgbClr val="0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2232000"/>
            <a:ext cx="30276000" cy="9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4516000" y="0"/>
            <a:ext cx="5760000" cy="230400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2000" y="360000"/>
            <a:ext cx="720000" cy="720000"/>
          </a:xfrm>
          <a:prstGeom prst="rect">
            <a:avLst/>
          </a:prstGeom>
          <a:solidFill>
            <a:srgbClr val="0F766E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8000" y="396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92000" y="252000"/>
            <a:ext cx="19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ResearcherHub Codex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92000" y="1116000"/>
            <a:ext cx="201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B8A6"/>
                </a:solidFill>
                <a:latin typeface="Calibri"/>
              </a:rPr>
              <a:t>AI/CS Research Intelligence Platform  ·  Publication-Time Attribution  ·  23M Papers  ·  3.2M Researchers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96000" y="360000"/>
            <a:ext cx="5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Koheon2  · 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96000" y="864000"/>
            <a:ext cx="5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ResearcherHub Codex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696000" y="1368000"/>
            <a:ext cx="50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766E"/>
                </a:solidFill>
                <a:latin typeface="Calibri"/>
              </a:rPr>
              <a:t>codex/topic-lineage-mvp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2000" y="2520000"/>
            <a:ext cx="3492000" cy="1008000"/>
          </a:xfrm>
          <a:prstGeom prst="rect">
            <a:avLst/>
          </a:prstGeom>
          <a:solidFill>
            <a:srgbClr val="0D1827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4000" y="2610000"/>
            <a:ext cx="33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CA3AF"/>
                </a:solidFill>
                <a:latin typeface="Calibri"/>
              </a:rPr>
              <a:t>Total Papers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4000" y="2880000"/>
            <a:ext cx="334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23M+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92000" y="2520000"/>
            <a:ext cx="3492000" cy="1008000"/>
          </a:xfrm>
          <a:prstGeom prst="rect">
            <a:avLst/>
          </a:prstGeom>
          <a:solidFill>
            <a:srgbClr val="0D1827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64000" y="2610000"/>
            <a:ext cx="33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CA3AF"/>
                </a:solidFill>
                <a:latin typeface="Calibri"/>
              </a:rPr>
              <a:t>Researchers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64000" y="2880000"/>
            <a:ext cx="334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3.2M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92000" y="2520000"/>
            <a:ext cx="3492000" cy="1008000"/>
          </a:xfrm>
          <a:prstGeom prst="rect">
            <a:avLst/>
          </a:prstGeom>
          <a:solidFill>
            <a:srgbClr val="0D1827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64000" y="2610000"/>
            <a:ext cx="33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CA3AF"/>
                </a:solidFill>
                <a:latin typeface="Calibri"/>
              </a:rPr>
              <a:t>Pub-Time Affils.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64000" y="2880000"/>
            <a:ext cx="334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21.4M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592000" y="2520000"/>
            <a:ext cx="3492000" cy="1008000"/>
          </a:xfrm>
          <a:prstGeom prst="rect">
            <a:avLst/>
          </a:prstGeom>
          <a:solidFill>
            <a:srgbClr val="0D1827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664000" y="2610000"/>
            <a:ext cx="33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CA3AF"/>
                </a:solidFill>
                <a:latin typeface="Calibri"/>
              </a:rPr>
              <a:t>Citation Edges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664000" y="2880000"/>
            <a:ext cx="334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1.87M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5192000" y="2520000"/>
            <a:ext cx="3492000" cy="1008000"/>
          </a:xfrm>
          <a:prstGeom prst="rect">
            <a:avLst/>
          </a:prstGeom>
          <a:solidFill>
            <a:srgbClr val="0D1827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264000" y="2610000"/>
            <a:ext cx="33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CA3AF"/>
                </a:solidFill>
                <a:latin typeface="Calibri"/>
              </a:rPr>
              <a:t>Countries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264000" y="2880000"/>
            <a:ext cx="334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190+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792000" y="2520000"/>
            <a:ext cx="3492000" cy="1008000"/>
          </a:xfrm>
          <a:prstGeom prst="rect">
            <a:avLst/>
          </a:prstGeom>
          <a:solidFill>
            <a:srgbClr val="0D1827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864000" y="2610000"/>
            <a:ext cx="33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CA3AF"/>
                </a:solidFill>
                <a:latin typeface="Calibri"/>
              </a:rPr>
              <a:t>Institutions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864000" y="2880000"/>
            <a:ext cx="334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63,985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392000" y="2520000"/>
            <a:ext cx="3492000" cy="1008000"/>
          </a:xfrm>
          <a:prstGeom prst="rect">
            <a:avLst/>
          </a:prstGeom>
          <a:solidFill>
            <a:srgbClr val="0D1827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464000" y="2610000"/>
            <a:ext cx="33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CA3AF"/>
                </a:solidFill>
                <a:latin typeface="Calibri"/>
              </a:rPr>
              <a:t>Intent Types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464000" y="2880000"/>
            <a:ext cx="334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10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992000" y="2520000"/>
            <a:ext cx="3492000" cy="1008000"/>
          </a:xfrm>
          <a:prstGeom prst="rect">
            <a:avLst/>
          </a:prstGeom>
          <a:solidFill>
            <a:srgbClr val="0D1827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064000" y="2610000"/>
            <a:ext cx="33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CA3AF"/>
                </a:solidFill>
                <a:latin typeface="Calibri"/>
              </a:rPr>
              <a:t>Quality Flags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064000" y="2880000"/>
            <a:ext cx="334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16.7M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2000" y="3816000"/>
            <a:ext cx="144000" cy="28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8000" y="3780000"/>
            <a:ext cx="88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Overview &amp; Motivation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2000" y="4140000"/>
            <a:ext cx="9180000" cy="1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000" y="4320000"/>
            <a:ext cx="9180000" cy="3960000"/>
          </a:xfrm>
          <a:prstGeom prst="rect">
            <a:avLst/>
          </a:prstGeom>
          <a:solidFill>
            <a:srgbClr val="0D182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6000" y="4464000"/>
            <a:ext cx="8892000" cy="36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D1D5DB"/>
                </a:solidFill>
                <a:latin typeface="Calibri"/>
              </a:rPr>
              <a:t>ResearcherHub Codex is a full-stack research visualization platform designed to reveal the true landscape of AI and computer science scholarship across 23 million papers from OpenAlex.
Unlike conventional research databases that rely on a researcher's current affiliation, ResearcherHub tracks publication-time affiliations — capturing where an author actually was when each paper was written. This prevents researcher mobility from distorting country and institution contribution metrics.
The platform combines pre-computed summary analytics, interactive 3D globe visualization, natural language query routing, and citation lineage graphs to provide a comprehensive view of who contributed what, from where, and when.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2000" y="8460000"/>
            <a:ext cx="9180000" cy="1440000"/>
          </a:xfrm>
          <a:prstGeom prst="rect">
            <a:avLst/>
          </a:prstGeom>
          <a:solidFill>
            <a:srgbClr val="0A1F12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36000" y="8568000"/>
            <a:ext cx="88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KEY PROBLEM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6000" y="8892000"/>
            <a:ext cx="8892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D1D5DB"/>
                </a:solidFill>
                <a:latin typeface="Calibri"/>
              </a:rPr>
              <a:t>Existing databases attribute papers to a researcher's current institution. ResearcherHub anchors each paper to the affiliation at publication time — enabling accurate retrospective analysis of national and institutional research output.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2000" y="10080000"/>
            <a:ext cx="144000" cy="28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8000" y="10044000"/>
            <a:ext cx="88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2000" y="10404000"/>
            <a:ext cx="9180000" cy="1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92000" y="10584000"/>
            <a:ext cx="9180000" cy="1296000"/>
          </a:xfrm>
          <a:prstGeom prst="rect">
            <a:avLst/>
          </a:prstGeom>
          <a:solidFill>
            <a:srgbClr val="0F20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2000" y="10728000"/>
            <a:ext cx="88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Data Layer  (PostgreSQL 16)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2000" y="11088000"/>
            <a:ext cx="88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23M papers · 21.4M pub-time affiliations
Pre-computed summary tables (no live joins)
Citation edges · Quality flags · Facets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84000" y="11880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2000" y="12024000"/>
            <a:ext cx="9180000" cy="1296000"/>
          </a:xfrm>
          <a:prstGeom prst="rect">
            <a:avLst/>
          </a:prstGeom>
          <a:solidFill>
            <a:srgbClr val="0F203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72000" y="12168000"/>
            <a:ext cx="88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API Layer  (FastAPI + asyncpg)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72000" y="12528000"/>
            <a:ext cx="88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9 route modules · OpenAI intent parsing
Summary-table-first queries · Graph endpoints
APScheduler 6-hour pipeline runs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84000" y="13320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2000" y="13464000"/>
            <a:ext cx="9180000" cy="1296000"/>
          </a:xfrm>
          <a:prstGeom prst="rect">
            <a:avLst/>
          </a:prstGeom>
          <a:solidFill>
            <a:srgbClr val="0F2035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72000" y="13608000"/>
            <a:ext cx="88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Frontend Layer  (React 19 + Vite 8)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72000" y="13968000"/>
            <a:ext cx="88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13 page components · Three.js / Cesium globe
D3 citation graphs · Real-time polling
Dark-mode visual design system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2000" y="15084000"/>
            <a:ext cx="144000" cy="28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08000" y="15048000"/>
            <a:ext cx="88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92000" y="15408000"/>
            <a:ext cx="9180000" cy="1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92000" y="15588000"/>
            <a:ext cx="9180000" cy="432000"/>
          </a:xfrm>
          <a:prstGeom prst="rect">
            <a:avLst/>
          </a:prstGeom>
          <a:solidFill>
            <a:srgbClr val="0D182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36000" y="15642000"/>
            <a:ext cx="18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  <a:latin typeface="Calibri"/>
              </a:rPr>
              <a:t>Frontend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80000" y="15642000"/>
            <a:ext cx="69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  <a:latin typeface="Calibri"/>
              </a:rPr>
              <a:t>React 19 · TypeScript 5.9 · Vite 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92000" y="16056000"/>
            <a:ext cx="9180000" cy="432000"/>
          </a:xfrm>
          <a:prstGeom prst="rect">
            <a:avLst/>
          </a:prstGeom>
          <a:solidFill>
            <a:srgbClr val="0D182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36000" y="16110000"/>
            <a:ext cx="18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4B8A6"/>
                </a:solidFill>
                <a:latin typeface="Calibri"/>
              </a:rPr>
              <a:t>3D / Maps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880000" y="16110000"/>
            <a:ext cx="69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  <a:latin typeface="Calibri"/>
              </a:rPr>
              <a:t>Three.js · Cesium · React Three Fiber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92000" y="16524000"/>
            <a:ext cx="9180000" cy="432000"/>
          </a:xfrm>
          <a:prstGeom prst="rect">
            <a:avLst/>
          </a:prstGeom>
          <a:solidFill>
            <a:srgbClr val="0D182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36000" y="16578000"/>
            <a:ext cx="18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Backend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80000" y="16578000"/>
            <a:ext cx="69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  <a:latin typeface="Calibri"/>
              </a:rPr>
              <a:t>FastAPI · SQLAlchemy 2.0 · asyncpg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92000" y="16992000"/>
            <a:ext cx="9180000" cy="432000"/>
          </a:xfrm>
          <a:prstGeom prst="rect">
            <a:avLst/>
          </a:prstGeom>
          <a:solidFill>
            <a:srgbClr val="0D182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36000" y="17046000"/>
            <a:ext cx="18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97316"/>
                </a:solidFill>
                <a:latin typeface="Calibri"/>
              </a:rPr>
              <a:t>Database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880000" y="17046000"/>
            <a:ext cx="69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  <a:latin typeface="Calibri"/>
              </a:rPr>
              <a:t>PostgreSQL 16 · Alembic migrations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92000" y="17460000"/>
            <a:ext cx="9180000" cy="432000"/>
          </a:xfrm>
          <a:prstGeom prst="rect">
            <a:avLst/>
          </a:prstGeom>
          <a:solidFill>
            <a:srgbClr val="0D182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36000" y="17514000"/>
            <a:ext cx="18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BF24"/>
                </a:solidFill>
                <a:latin typeface="Calibri"/>
              </a:rPr>
              <a:t>LLM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80000" y="17514000"/>
            <a:ext cx="69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  <a:latin typeface="Calibri"/>
              </a:rPr>
              <a:t>OpenAI GPT-4o-mini (intent routing)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92000" y="17928000"/>
            <a:ext cx="9180000" cy="432000"/>
          </a:xfrm>
          <a:prstGeom prst="rect">
            <a:avLst/>
          </a:prstGeom>
          <a:solidFill>
            <a:srgbClr val="0D182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36000" y="17982000"/>
            <a:ext cx="18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1D5DB"/>
                </a:solidFill>
                <a:latin typeface="Calibri"/>
              </a:rPr>
              <a:t>Pipeline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880000" y="17982000"/>
            <a:ext cx="69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  <a:latin typeface="Calibri"/>
              </a:rPr>
              <a:t>APScheduler · boto3 · httpx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404000" y="3816000"/>
            <a:ext cx="144000" cy="28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620000" y="3780000"/>
            <a:ext cx="88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Platform Features &amp; Pages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404000" y="4140000"/>
            <a:ext cx="9180000" cy="1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404000" y="432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404000" y="4320000"/>
            <a:ext cx="126000" cy="100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56000" y="442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Globe Explorer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656000" y="475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3D/2D Cesium globe showing researcher point clouds
globally. Filter by field, country, city.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404000" y="540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404000" y="5400000"/>
            <a:ext cx="126000" cy="10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56000" y="550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Topic Lineage Graph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656000" y="583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Multi-seed citation lineage graph. Reveals intellectual
ancestors of research topics using multi_seed_v0 scoring.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404000" y="648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404000" y="6480000"/>
            <a:ext cx="126000" cy="100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656000" y="658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Trending Topics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656000" y="691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Facet-driven trending engine ranks topics by growth %
across 4 axes: Aboutness · Method · Task · Application.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404000" y="756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404000" y="7560000"/>
            <a:ext cx="126000" cy="10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656000" y="766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Leaderboard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656000" y="799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Rankings by country, institution, researcher. Sortable
by citations, contributions, hotness, papers, FWCI.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404000" y="864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404000" y="8640000"/>
            <a:ext cx="126000" cy="100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656000" y="874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Progress Tracker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56000" y="907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Year-over-year trend charts showing contribution and
citation growth for countries and fields.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404000" y="972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404000" y="9720000"/>
            <a:ext cx="126000" cy="100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656000" y="982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Paper Detail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656000" y="1015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Full paper view: metadata, authors, affiliations,
quality flags, facets, reference summaries.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404000" y="1080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404000" y="10800000"/>
            <a:ext cx="126000" cy="100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656000" y="1090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Calibri"/>
              </a:rPr>
              <a:t>Paper Graph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656000" y="1123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Single-paper citation lineage: seed → references →
2-hop prerequisites → related works.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404000" y="1188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404000" y="11880000"/>
            <a:ext cx="126000" cy="100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656000" y="1198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Institution Profile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656000" y="1231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Deep-dive: top fields, key researchers, trend data,
and representative papers for any institution.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404000" y="1296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404000" y="12960000"/>
            <a:ext cx="126000" cy="100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656000" y="1306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1D5DB"/>
                </a:solidFill>
                <a:latin typeface="Calibri"/>
              </a:rPr>
              <a:t>Paper Timeline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656000" y="1339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Topic-based paper discovery sorted by impact,
organized by temporal research trends.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0404000" y="1404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0404000" y="14040000"/>
            <a:ext cx="126000" cy="100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656000" y="1414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Researcher DNA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656000" y="1447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Individual researcher profile: contribution history,
co-author network, topic evolution.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404000" y="1512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404000" y="15120000"/>
            <a:ext cx="126000" cy="10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0656000" y="1522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Research Map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656000" y="1555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Concept map with timeline evolution, research camps,
key papers, and narrative analysis.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404000" y="16200000"/>
            <a:ext cx="9180000" cy="1008000"/>
          </a:xfrm>
          <a:prstGeom prst="rect">
            <a:avLst/>
          </a:prstGeom>
          <a:solidFill>
            <a:srgbClr val="0D1827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404000" y="16200000"/>
            <a:ext cx="126000" cy="100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0656000" y="16308000"/>
            <a:ext cx="87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Benchmark Page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656000" y="16632000"/>
            <a:ext cx="87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Benchmark / dataset tracking and metric extraction
from papers (MVP stage).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404000" y="17352000"/>
            <a:ext cx="9180000" cy="1152000"/>
          </a:xfrm>
          <a:prstGeom prst="rect">
            <a:avLst/>
          </a:prstGeom>
          <a:solidFill>
            <a:srgbClr val="101E38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584000" y="17496000"/>
            <a:ext cx="88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0A5FA"/>
                </a:solidFill>
                <a:latin typeface="Calibri"/>
              </a:rPr>
              <a:t>Universal Natural Language Search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584000" y="17856000"/>
            <a:ext cx="88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D1D5DB"/>
                </a:solidFill>
                <a:latin typeface="Calibri"/>
              </a:rPr>
              <a:t>OpenAI GPT-4o-mini parses free-text queries into 10 structured intent types (comparison, progress, leaderboard, trending, institution_profile, researcher_search, paper_detail, paper_graph, topic_lineage, paper_timeline) and routes to the corresponding visualization page. Bilingual: Korean + English.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0016000" y="3816000"/>
            <a:ext cx="144000" cy="28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0232000" y="3780000"/>
            <a:ext cx="88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Novel Contributions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0016000" y="4140000"/>
            <a:ext cx="9180000" cy="1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20016000" y="4320000"/>
            <a:ext cx="9180000" cy="2376000"/>
          </a:xfrm>
          <a:prstGeom prst="rect">
            <a:avLst/>
          </a:prstGeom>
          <a:solidFill>
            <a:srgbClr val="0F2035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0196000" y="4464000"/>
            <a:ext cx="88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766E"/>
                </a:solidFill>
                <a:latin typeface="Calibri"/>
              </a:rPr>
              <a:t>Publication-Time Affiliation Attribution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0304000" y="4824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21.4M paper-author-affiliation tuples anchored to publish time.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0304000" y="5238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Prevents researcher mobility from distorting country/institution stats.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0304000" y="5652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Confidence scoring + ROR canonical matching (99.6% coverage).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0304000" y="6066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Enables: 'What was MIT's true AI contribution in 2020?'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0016000" y="6876000"/>
            <a:ext cx="9180000" cy="2376000"/>
          </a:xfrm>
          <a:prstGeom prst="rect">
            <a:avLst/>
          </a:prstGeom>
          <a:solidFill>
            <a:srgbClr val="0F20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0196000" y="7020000"/>
            <a:ext cx="88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Calibri"/>
              </a:rPr>
              <a:t>Weak-Label Facet Taxonomy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0304000" y="7380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4-axis paper classification: Aboutness · Method · Task · Application.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0304000" y="7794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Not just topic tags — enables deep slicing (e.g., 'Transformer in medical imaging').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0304000" y="8208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Rule/keyword-based v0; embedding/LLM taxonomy planned.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0304000" y="8622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Enables facet-driven trending, timeline discovery, and lineage scoring.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0016000" y="9432000"/>
            <a:ext cx="9180000" cy="2376000"/>
          </a:xfrm>
          <a:prstGeom prst="rect">
            <a:avLst/>
          </a:prstGeom>
          <a:solidFill>
            <a:srgbClr val="0F203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0196000" y="9576000"/>
            <a:ext cx="88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  <a:latin typeface="Calibri"/>
              </a:rPr>
              <a:t>Multi-Seed Citation Lineage Scoring  (multi_seed_v0)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0304000" y="9936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Score = α·seed_reach + β·edge_count + γ·citations + δ·depth_boost − type_penalty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304000" y="10350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seed_reach: How many seed papers reference/cite this ancestor?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0304000" y="10764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edge_count: How often does it appear across reference chains?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0304000" y="11178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Reveals intellectual foundations of a field, not just direct citations.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0016000" y="11988000"/>
            <a:ext cx="9180000" cy="2376000"/>
          </a:xfrm>
          <a:prstGeom prst="rect">
            <a:avLst/>
          </a:prstGeom>
          <a:solidFill>
            <a:srgbClr val="0F203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0196000" y="12132000"/>
            <a:ext cx="88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7316"/>
                </a:solidFill>
                <a:latin typeface="Calibri"/>
              </a:rPr>
              <a:t>Quality-Filtered Product Layer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0304000" y="12492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16.7M quality flags across 23M papers; conservative_v0 policy.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0304000" y="12906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Original data preserved — no destructive edits.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0304000" y="13320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Summary tables respect filter; UI can toggle policy.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0304000" y="13734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Enables A/B testing of different quality thresholds.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0016000" y="14544000"/>
            <a:ext cx="9180000" cy="2376000"/>
          </a:xfrm>
          <a:prstGeom prst="rect">
            <a:avLst/>
          </a:prstGeom>
          <a:solidFill>
            <a:srgbClr val="0F2035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0196000" y="14688000"/>
            <a:ext cx="88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Calibri"/>
              </a:rPr>
              <a:t>Summary Table Architecture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0304000" y="15048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Pre-computed aggregates: country_stats, institution_field_stats, facet_year_summary, etc.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0304000" y="15462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All API endpoints query summary tables — no live joins on 23M rows.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0304000" y="15876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Nightly refresh via APScheduler; resumable/idempotent pipeline.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0304000" y="16290000"/>
            <a:ext cx="87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</a:pPr>
            <a:r>
              <a:rPr sz="950" b="0" i="0">
                <a:solidFill>
                  <a:srgbClr val="D1D5DB"/>
                </a:solidFill>
                <a:latin typeface="Calibri"/>
              </a:rPr>
              <a:t>• Enables sub-100ms API responses across the full dataset.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0" y="39168000"/>
            <a:ext cx="30276000" cy="72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0" y="39240000"/>
            <a:ext cx="30276000" cy="3564000"/>
          </a:xfrm>
          <a:prstGeom prst="rect">
            <a:avLst/>
          </a:prstGeom>
          <a:solidFill>
            <a:srgbClr val="05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92000" y="39384000"/>
            <a:ext cx="144000" cy="28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008000" y="39348000"/>
            <a:ext cx="2833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Pipeline &amp; Processing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92000" y="39708000"/>
            <a:ext cx="28692000" cy="1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92000" y="39888000"/>
            <a:ext cx="3852000" cy="2592000"/>
          </a:xfrm>
          <a:prstGeom prst="rect">
            <a:avLst/>
          </a:prstGeom>
          <a:solidFill>
            <a:srgbClr val="0D182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2538000" y="39960000"/>
            <a:ext cx="360000" cy="36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538000" y="3997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64000" y="40392000"/>
            <a:ext cx="37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766E"/>
                </a:solidFill>
                <a:latin typeface="Calibri"/>
              </a:rPr>
              <a:t>OpenAlex Snapshot
Ingest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64000" y="41040000"/>
            <a:ext cx="3708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</a:pPr>
            <a:r>
              <a:rPr sz="850" b="0" i="0">
                <a:solidFill>
                  <a:srgbClr val="D1D5DB"/>
                </a:solidFill>
                <a:latin typeface="Calibri"/>
              </a:rPr>
              <a:t>23M papers
3.2M researchers
Raw JSON → PostgreSQL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680000" y="41040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4932000" y="39888000"/>
            <a:ext cx="3852000" cy="2592000"/>
          </a:xfrm>
          <a:prstGeom prst="rect">
            <a:avLst/>
          </a:prstGeom>
          <a:solidFill>
            <a:srgbClr val="0D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678000" y="39960000"/>
            <a:ext cx="360000" cy="36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678000" y="3997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004000" y="40392000"/>
            <a:ext cx="37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Publication-Time
Affiliation Backfill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004000" y="41040000"/>
            <a:ext cx="3708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</a:pPr>
            <a:r>
              <a:rPr sz="850" b="0" i="0">
                <a:solidFill>
                  <a:srgbClr val="D1D5DB"/>
                </a:solidFill>
                <a:latin typeface="Calibri"/>
              </a:rPr>
              <a:t>21.4M rows
ROR normalization
Fuzzy + exact match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8820000" y="41040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072000" y="39888000"/>
            <a:ext cx="3852000" cy="2592000"/>
          </a:xfrm>
          <a:prstGeom prst="rect">
            <a:avLst/>
          </a:prstGeom>
          <a:solidFill>
            <a:srgbClr val="0D182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818000" y="39960000"/>
            <a:ext cx="36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0818000" y="3997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144000" y="40392000"/>
            <a:ext cx="37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Facet
Classification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144000" y="41040000"/>
            <a:ext cx="3708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</a:pPr>
            <a:r>
              <a:rPr sz="850" b="0" i="0">
                <a:solidFill>
                  <a:srgbClr val="D1D5DB"/>
                </a:solidFill>
                <a:latin typeface="Calibri"/>
              </a:rPr>
              <a:t>Keyword/regex
4-axis taxonomy
paper_facets table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2960000" y="41040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3212000" y="39888000"/>
            <a:ext cx="3852000" cy="2592000"/>
          </a:xfrm>
          <a:prstGeom prst="rect">
            <a:avLst/>
          </a:prstGeom>
          <a:solidFill>
            <a:srgbClr val="0D182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4958000" y="39960000"/>
            <a:ext cx="360000" cy="3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4958000" y="3997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3284000" y="40392000"/>
            <a:ext cx="37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Calibri"/>
              </a:rPr>
              <a:t>Quality
Filtering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3284000" y="41040000"/>
            <a:ext cx="3708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</a:pPr>
            <a:r>
              <a:rPr sz="850" b="0" i="0">
                <a:solidFill>
                  <a:srgbClr val="D1D5DB"/>
                </a:solidFill>
                <a:latin typeface="Calibri"/>
              </a:rPr>
              <a:t>conservative_v0
16.7M flags
Summary-safe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7100000" y="41040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7352000" y="39888000"/>
            <a:ext cx="3852000" cy="2592000"/>
          </a:xfrm>
          <a:prstGeom prst="rect">
            <a:avLst/>
          </a:prstGeom>
          <a:solidFill>
            <a:srgbClr val="0D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9098000" y="39960000"/>
            <a:ext cx="360000" cy="360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9098000" y="3997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7424000" y="40392000"/>
            <a:ext cx="37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Calibri"/>
              </a:rPr>
              <a:t>Citation
Enrichment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7424000" y="41040000"/>
            <a:ext cx="3708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</a:pPr>
            <a:r>
              <a:rPr sz="850" b="0" i="0">
                <a:solidFill>
                  <a:srgbClr val="D1D5DB"/>
                </a:solidFill>
                <a:latin typeface="Calibri"/>
              </a:rPr>
              <a:t>Top 30K papers
OpenAlex API
1.87M edges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1240000" y="41040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21492000" y="39888000"/>
            <a:ext cx="3852000" cy="2592000"/>
          </a:xfrm>
          <a:prstGeom prst="rect">
            <a:avLst/>
          </a:prstGeom>
          <a:solidFill>
            <a:srgbClr val="0D1827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3238000" y="39960000"/>
            <a:ext cx="360000" cy="36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23238000" y="3997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1564000" y="40392000"/>
            <a:ext cx="37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4B8A6"/>
                </a:solidFill>
                <a:latin typeface="Calibri"/>
              </a:rPr>
              <a:t>Summary Table
Refresh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1564000" y="41040000"/>
            <a:ext cx="3708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</a:pPr>
            <a:r>
              <a:rPr sz="850" b="0" i="0">
                <a:solidFill>
                  <a:srgbClr val="D1D5DB"/>
                </a:solidFill>
                <a:latin typeface="Calibri"/>
              </a:rPr>
              <a:t>Nightly batch
Pre-aggregation
&lt;100ms API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5380000" y="41040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5632000" y="39888000"/>
            <a:ext cx="3852000" cy="2592000"/>
          </a:xfrm>
          <a:prstGeom prst="rect">
            <a:avLst/>
          </a:prstGeom>
          <a:solidFill>
            <a:srgbClr val="0D18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27378000" y="39960000"/>
            <a:ext cx="360000" cy="36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378000" y="3997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5704000" y="40392000"/>
            <a:ext cx="37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  <a:latin typeface="Calibri"/>
              </a:rPr>
              <a:t>Lineage Graph
Computation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25704000" y="41040000"/>
            <a:ext cx="3708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</a:pPr>
            <a:r>
              <a:rPr sz="850" b="0" i="0">
                <a:solidFill>
                  <a:srgbClr val="D1D5DB"/>
                </a:solidFill>
                <a:latin typeface="Calibri"/>
              </a:rPr>
              <a:t>multi_seed_v0
On-demand (MVP)
Cache layer planned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0" y="42444000"/>
            <a:ext cx="30276000" cy="360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792000" y="4248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ResearcherHub Codex  ·  Open-source research intelligence platform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1520000" y="424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OpenAlex · PostgreSQL 16 · FastAPI · React 19 · Three.js · Cesium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23004000" y="4248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7280"/>
                </a:solidFill>
                <a:latin typeface="Calibri"/>
              </a:rPr>
              <a:t>github: koheon2/researcherhub-codex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